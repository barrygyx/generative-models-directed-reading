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7BCD4D-5BBC-3E90-CF45-3C8B6D61F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A0A7C0-64A2-8550-85FD-449A9A03C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86BFB-2433-CFBF-BC07-B5AED891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5A9A2-12B8-1A4C-4C58-33944552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0E67D-7EDD-8233-1CC6-620BC1D7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284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5B81-168E-C373-F8B3-09B807A5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0EFAA-8EC8-3C56-86B5-2EA5C51AD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D44D9-42B0-6A0B-AB3E-6C83524B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648F0-9D9F-C5C1-7C9C-9AF977DE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C143E-664E-441A-B244-2BA99389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5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1F4CE-19C2-DEE8-D44B-75F2A79C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20426-15B0-3A8F-2BC7-4A3139454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121066-6A39-A6D4-3F87-EC64A944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17A9D-233F-7F29-6517-963C7856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E37D25-8AEB-0037-9B91-867342A6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14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E1A02-C91D-6339-2FE8-21237D9C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3B02D-699B-5A3A-E942-0511B903B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C79E1B-0FFC-9BB1-4D95-CA3F3A40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25BD6-398C-D1A6-65D0-68CDAD31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4EC8A1-AA77-45B2-25D5-EE167FC8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4A15EE-A823-B86A-ADF3-424FC0DC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8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FBB4E-0F26-F3CD-9632-86AE8093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43BF4-30BF-B7CC-D0E4-FC332B36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DA0ABA-9787-0D96-A389-634E2B8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6A5AEA-0C4E-8DD9-41E5-EB68CD116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3B253E-4252-9C03-87A2-28FEA93CC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5B8EC5-2411-BDD3-399B-CF836373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439A8B-60CB-0789-F636-D4E4C0AB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9AFEA9-9DA9-73C5-E7B7-98FE4888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780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4F3A8-1318-7395-E0BA-117A34F7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E9DCBE-0444-7721-EAF4-9D1E1247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B1E3AF-D2EE-0D57-26AB-A68E67039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AF1308-3A4D-66F9-BB96-4C56D165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52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23B824-FCCC-D074-A72B-3120FA0D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62CF64-72C8-240A-6BCB-5AFCDD36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CF83B-DD6D-91A8-4B44-39FB5483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343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D2E7B-091A-A7D2-E4E5-0913AA56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DF727C-6A9B-6015-A9CD-8D5D06C7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0CCD73-419B-A4D5-951B-2CA49BBCB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AC2830-BCDC-FF1A-3002-AE159895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1FEC44-24A9-E5A9-0BD6-F178E8B9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A13C2D-9A54-F197-4A87-3424F79F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55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0DAC8-D7D2-4059-52C9-399FB4BB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3F179E-C0FC-E031-DE39-EBD293672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017B32-8B76-EDF5-C40D-BEDC5502D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406CF-E5DF-0EFF-59BF-48F2E882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4B6E1D-A7D3-6198-B01A-EA9470CF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663B18-299D-66D5-7E17-782B3B75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0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391EA-5A85-CE47-93EB-B62FA70F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BCAC21-3081-7C98-712E-B7DEAAA70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BA822-53B2-3119-A3AA-F675F36D5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590FC-4479-9FDD-1B40-9173C565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A5CA7-5784-DE24-9B78-C962DF75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26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F8C2F2-66ED-7067-8438-1B96EF6F1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802EFB-371A-588E-85CB-CF181EA3C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C0FF5-5BA4-C4C7-9B87-A98965C5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BB86D-4499-8BB2-52AE-658D4ED4F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E67AA-F2E0-9B52-109B-A54C5835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0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7831A4-0BCE-CCD7-FE80-66DA323E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6ECBAC-DCCD-CE8D-4FCE-5402B61C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B4E384-4350-FB72-898F-6FF9A88FE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AC917-59FC-403E-8948-84DAEECC24A1}" type="datetimeFigureOut">
              <a:rPr lang="zh-CN" altLang="en-US" smtClean="0"/>
              <a:t>2026/4/6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4AFAD1-D432-69C9-FAED-8E31A71141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C04F0-FEB9-1D2B-EE54-3942E1336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E3A6A-340D-4B3D-9C8A-27D7A3055C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18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2D3C8-A2F4-187F-BE60-95DA477C4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AutoShape 2" descr="What are Diffusion Models? - GeeksforGeeks">
            <a:extLst>
              <a:ext uri="{FF2B5EF4-FFF2-40B4-BE49-F238E27FC236}">
                <a16:creationId xmlns:a16="http://schemas.microsoft.com/office/drawing/2014/main" id="{724BEF4C-5419-DD51-E568-5773FF20B842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6" name="AutoShape 6" descr="diffusion_model">
            <a:extLst>
              <a:ext uri="{FF2B5EF4-FFF2-40B4-BE49-F238E27FC236}">
                <a16:creationId xmlns:a16="http://schemas.microsoft.com/office/drawing/2014/main" id="{7C0C64D9-116F-4025-42C3-7AAD63B17A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8" descr="diffusion_model">
            <a:extLst>
              <a:ext uri="{FF2B5EF4-FFF2-40B4-BE49-F238E27FC236}">
                <a16:creationId xmlns:a16="http://schemas.microsoft.com/office/drawing/2014/main" id="{EE1D9A83-033B-A080-927C-B5A525F50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46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76198-EF3B-46C8-FFBF-09136CD0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971"/>
            <a:ext cx="10515600" cy="1325563"/>
          </a:xfrm>
        </p:spPr>
        <p:txBody>
          <a:bodyPr/>
          <a:lstStyle/>
          <a:p>
            <a:r>
              <a:rPr lang="en-US" altLang="zh-CN" b="1" dirty="0"/>
              <a:t>What is a Diffusion Model?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E8DED-355B-2041-AC5E-7EA056E39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6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Diffusion models gradually add noise to real images during training, then learn to reverse this process so they can generate new images from pure noise.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FB9221E-B1D7-1188-F823-C22459A3B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51" y="2846173"/>
            <a:ext cx="7143497" cy="344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B8713-7ABA-8586-47BA-E5D459FF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467"/>
            <a:ext cx="10515600" cy="1325563"/>
          </a:xfrm>
        </p:spPr>
        <p:txBody>
          <a:bodyPr/>
          <a:lstStyle/>
          <a:p>
            <a:r>
              <a:rPr lang="en-US" altLang="zh-CN" b="1" dirty="0"/>
              <a:t>Diffusion as an SDE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D45292-095D-EF18-221D-51C14EAA7D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8669"/>
                <a:ext cx="10515600" cy="63265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de-DE" altLang="zh-CN" b="1" i="1" smtClean="0">
                          <a:latin typeface="Cambria Math" panose="02040503050406030204" pitchFamily="18" charset="0"/>
                        </a:rPr>
                        <m:t>𝒅</m:t>
                      </m:r>
                      <m:sSub>
                        <m:sSubPr>
                          <m:ctrlP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de-DE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altLang="zh-CN" b="1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D45292-095D-EF18-221D-51C14EAA7D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8669"/>
                <a:ext cx="10515600" cy="63265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9F2F54A-D549-F5B0-2133-95B7C740F45C}"/>
                  </a:ext>
                </a:extLst>
              </p:cNvPr>
              <p:cNvSpPr txBox="1"/>
              <p:nvPr/>
            </p:nvSpPr>
            <p:spPr>
              <a:xfrm>
                <a:off x="1258955" y="1782420"/>
                <a:ext cx="7262192" cy="1685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𝒅𝒙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how the image changes over a tiny time interval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𝒅𝒕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a smooth, predictable movement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de-DE" altLang="zh-CN" sz="2400" b="1" i="1" smtClean="0">
                        <a:latin typeface="Cambria Math" panose="02040503050406030204" pitchFamily="18" charset="0"/>
                      </a:rPr>
                      <m:t>𝒅</m:t>
                    </m:r>
                    <m:sSub>
                      <m:sSubPr>
                        <m:ctrlP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de-DE" altLang="zh-CN" sz="24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</a:rPr>
                  <a:t> a random “shake” caused by noise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9F2F54A-D549-F5B0-2133-95B7C740F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5" y="1782420"/>
                <a:ext cx="7262192" cy="1685783"/>
              </a:xfrm>
              <a:prstGeom prst="rect">
                <a:avLst/>
              </a:prstGeom>
              <a:blipFill>
                <a:blip r:embed="rId3"/>
                <a:stretch>
                  <a:fillRect l="-756" b="-72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D544F437-501F-1D37-8A34-B0D6A75B40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5" b="753"/>
          <a:stretch>
            <a:fillRect/>
          </a:stretch>
        </p:blipFill>
        <p:spPr bwMode="auto">
          <a:xfrm>
            <a:off x="2955236" y="3547103"/>
            <a:ext cx="6268278" cy="284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72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67AEE-B447-A135-8790-1EF53B6C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63"/>
            <a:ext cx="10515600" cy="1325563"/>
          </a:xfrm>
        </p:spPr>
        <p:txBody>
          <a:bodyPr/>
          <a:lstStyle/>
          <a:p>
            <a:r>
              <a:rPr lang="en-US" altLang="zh-CN" b="1" dirty="0"/>
              <a:t>Forward Process: Gradually Adding Noise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562EF5-F4DD-7F7A-57BD-22B940A9A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90135"/>
                <a:ext cx="10515600" cy="171933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𝒒</m:t>
                      </m:r>
                      <m:d>
                        <m:dPr>
                          <m:sepChr m:val="∣"/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ad>
                            <m:radPr>
                              <m:degHide m:val="on"/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zh-CN" altLang="en-US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rad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, </m:t>
                          </m:r>
                          <m:sSub>
                            <m:sSubPr>
                              <m:ctrlP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rad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rad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562EF5-F4DD-7F7A-57BD-22B940A9A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90135"/>
                <a:ext cx="10515600" cy="171933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CFB6237-8728-3AF3-C1ED-978A72164FAD}"/>
                  </a:ext>
                </a:extLst>
              </p:cNvPr>
              <p:cNvSpPr txBox="1"/>
              <p:nvPr/>
            </p:nvSpPr>
            <p:spPr>
              <a:xfrm>
                <a:off x="765314" y="2902231"/>
                <a:ext cx="471446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image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at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step</m:t>
                      </m:r>
                      <m:r>
                        <m:rPr>
                          <m:nor/>
                        </m:rPr>
                        <a:rPr lang="en-US" altLang="zh-CN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CN" sz="240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noisier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image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step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level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added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step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Gaussian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altLang="zh-CN" sz="24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CFB6237-8728-3AF3-C1ED-978A72164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14" y="2902231"/>
                <a:ext cx="4714461" cy="2585323"/>
              </a:xfrm>
              <a:prstGeom prst="rect">
                <a:avLst/>
              </a:prstGeom>
              <a:blipFill>
                <a:blip r:embed="rId3"/>
                <a:stretch>
                  <a:fillRect l="-1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E3B44D68-B6C2-23E0-45E1-6165D50E8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365" y="3101012"/>
            <a:ext cx="7037114" cy="197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0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AutoShape 4" descr="diffusion_model">
                <a:extLst>
                  <a:ext uri="{FF2B5EF4-FFF2-40B4-BE49-F238E27FC236}">
                    <a16:creationId xmlns:a16="http://schemas.microsoft.com/office/drawing/2014/main" id="{787758F9-EF73-75F3-4E9F-F59767B1CA7B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 bwMode="auto">
              <a:xfrm>
                <a:off x="838200" y="1093305"/>
                <a:ext cx="10515600" cy="1702904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𝓝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AutoShape 4" descr="diffusion_model">
                <a:extLst>
                  <a:ext uri="{FF2B5EF4-FFF2-40B4-BE49-F238E27FC236}">
                    <a16:creationId xmlns:a16="http://schemas.microsoft.com/office/drawing/2014/main" id="{787758F9-EF73-75F3-4E9F-F59767B1CA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093305"/>
                <a:ext cx="10515600" cy="17029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6" descr="diffusion_model">
            <a:extLst>
              <a:ext uri="{FF2B5EF4-FFF2-40B4-BE49-F238E27FC236}">
                <a16:creationId xmlns:a16="http://schemas.microsoft.com/office/drawing/2014/main" id="{CB9A5315-CFFC-15B8-CAC1-0EA9A176B222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838200" y="337932"/>
            <a:ext cx="10515600" cy="86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/>
              <a:t>Backward Process: From Noise to Image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0E68617-F14F-0F4E-F4C5-251BF6647123}"/>
                  </a:ext>
                </a:extLst>
              </p:cNvPr>
              <p:cNvSpPr txBox="1"/>
              <p:nvPr/>
            </p:nvSpPr>
            <p:spPr>
              <a:xfrm>
                <a:off x="785191" y="2902231"/>
                <a:ext cx="5039139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nois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image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step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cleaner image at step t-1</a:t>
                </a:r>
                <a:endParaRPr lang="en-US" altLang="zh-CN" sz="240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sz="24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altLang="zh-CN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e-DE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altLang="zh-CN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altLang="zh-CN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de-DE" altLang="zh-CN" sz="24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altLang="zh-C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predicted mean of the reverse step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</a:rPr>
                  <a:t>variance of the reverse step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Gaussian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altLang="zh-CN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0E68617-F14F-0F4E-F4C5-251BF6647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91" y="2902231"/>
                <a:ext cx="5039139" cy="3693319"/>
              </a:xfrm>
              <a:prstGeom prst="rect">
                <a:avLst/>
              </a:prstGeom>
              <a:blipFill>
                <a:blip r:embed="rId3"/>
                <a:stretch>
                  <a:fillRect l="-1937" r="-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F3E76720-B8EF-84A7-FD7E-D97C34510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396" y="3429000"/>
            <a:ext cx="6428073" cy="180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2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E4A32-B0CF-56FC-843C-E0BF6FAD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81"/>
            <a:ext cx="10515600" cy="1325563"/>
          </a:xfrm>
        </p:spPr>
        <p:txBody>
          <a:bodyPr/>
          <a:lstStyle/>
          <a:p>
            <a:r>
              <a:rPr lang="en-US" altLang="zh-CN" b="1" dirty="0"/>
              <a:t>Why is diffusion slow?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B4A0F-F081-BED3-1015-BA73A249C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0017"/>
            <a:ext cx="5396948" cy="454694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Reverse generation requires many denoising steps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More steps usually give better quality, but increase latency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This makes diffusion hard to deploy in real-time or resource-limited settings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03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DAB40D1-944B-9E00-A446-660B8810320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̃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br>
                  <a:rPr lang="en-US" altLang="zh-CN" dirty="0"/>
                </a:br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5DAB40D1-944B-9E00-A446-660B88103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FFA420-AD76-F802-CF4C-402773394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52391" cy="19777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sup>
                    </m:sSubSup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student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</a:rPr>
                      <m:t>prediction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Teacher target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distance</m:t>
                    </m:r>
                    <m:r>
                      <m:rPr>
                        <m:lit/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matching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loss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FFFA420-AD76-F802-CF4C-402773394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52391" cy="197774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29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5332C-C3FA-8AF1-C4BC-6D7E2F38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D8C8F-EFA1-15C3-7780-F2B888668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52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247</Words>
  <Application>Microsoft Office PowerPoint</Application>
  <PresentationFormat>宽屏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What is a Diffusion Model?</vt:lpstr>
      <vt:lpstr>Diffusion as an SDE</vt:lpstr>
      <vt:lpstr>Forward Process: Gradually Adding Noise</vt:lpstr>
      <vt:lpstr>Backward Process: From Noise to Image</vt:lpstr>
      <vt:lpstr>Why is diffusion slow?</vt:lpstr>
      <vt:lpstr>L(ψ)=d(x_n^ψ,(x_n ) ̃ )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A6627</dc:creator>
  <cp:lastModifiedBy>A6627</cp:lastModifiedBy>
  <cp:revision>2</cp:revision>
  <dcterms:created xsi:type="dcterms:W3CDTF">2026-04-05T02:36:17Z</dcterms:created>
  <dcterms:modified xsi:type="dcterms:W3CDTF">2026-04-05T23:02:43Z</dcterms:modified>
</cp:coreProperties>
</file>